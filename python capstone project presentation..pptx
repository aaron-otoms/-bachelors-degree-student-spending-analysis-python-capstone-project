
<file path=[Content_Types].xml><?xml version="1.0" encoding="utf-8"?>
<Types xmlns="http://schemas.openxmlformats.org/package/2006/content-types">
  <Default Extension="png" ContentType="image/png"/>
  <Default Extension="webp"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60"/>
  </p:normalViewPr>
  <p:slideViewPr>
    <p:cSldViewPr snapToGrid="0">
      <p:cViewPr varScale="1">
        <p:scale>
          <a:sx n="67" d="100"/>
          <a:sy n="67" d="100"/>
        </p:scale>
        <p:origin x="6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506DD-6C72-448C-ADB5-188E272BAB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4E1C80-2C0E-4B5C-B5BC-D98233DB4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76C4C1-0D12-4002-889E-3471550A45B1}"/>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5" name="Footer Placeholder 4">
            <a:extLst>
              <a:ext uri="{FF2B5EF4-FFF2-40B4-BE49-F238E27FC236}">
                <a16:creationId xmlns:a16="http://schemas.microsoft.com/office/drawing/2014/main" id="{BF821128-DD12-4F9E-8CF0-42F0F2B1F5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30DA61-B2F0-4765-855F-CC833417214B}"/>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2171895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93F49-C24E-48B9-8764-4FA837D84D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0FDE3B-0B5B-439B-873F-7963C7E73CA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EB25AE-354C-46A6-B1E1-087BE72A776B}"/>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5" name="Footer Placeholder 4">
            <a:extLst>
              <a:ext uri="{FF2B5EF4-FFF2-40B4-BE49-F238E27FC236}">
                <a16:creationId xmlns:a16="http://schemas.microsoft.com/office/drawing/2014/main" id="{A58A78ED-DBC2-4189-80E1-A054772D16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A8D2E9-4E44-43F5-9C1C-EE9C3D47CC18}"/>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1877541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27705-5EB4-4E1B-A2CD-F6194F9DFD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12D8DD-1E22-4EA7-B6A8-21FCE74EBC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B3D3FD1-14D8-4E63-9A8A-E1191AB08535}"/>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5" name="Footer Placeholder 4">
            <a:extLst>
              <a:ext uri="{FF2B5EF4-FFF2-40B4-BE49-F238E27FC236}">
                <a16:creationId xmlns:a16="http://schemas.microsoft.com/office/drawing/2014/main" id="{C1B69C0E-7B3D-4E2C-9F50-96BCC346AC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6FDDE1-4B43-4657-A6A8-539C0C990A8C}"/>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2163237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D5CD6-CA31-4901-B435-3078EE282B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CC94DB-FEED-492C-B12A-499FF04AF6F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185943-86F9-45BF-B46B-65492F4C077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59B19D-ECC5-4FAD-AA25-0AB1304372F2}"/>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6" name="Footer Placeholder 5">
            <a:extLst>
              <a:ext uri="{FF2B5EF4-FFF2-40B4-BE49-F238E27FC236}">
                <a16:creationId xmlns:a16="http://schemas.microsoft.com/office/drawing/2014/main" id="{1F62DE25-5FFB-4D85-9488-E0C792CEB2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C85CCB-7110-4A06-95F5-5DB51A8732F5}"/>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2188245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ED3DF-A714-4430-9A93-336B760B1C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0226AC-FCBE-4E77-831C-3CFE5597C4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78BEF08-9117-447E-9322-2AC27EE8E2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0FBE0B-2745-4C89-826D-A9E5DA854A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8167064-1F25-4F2D-920B-D7FFD01EA98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C25CED-9B49-4682-89FD-570FF7070FFA}"/>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8" name="Footer Placeholder 7">
            <a:extLst>
              <a:ext uri="{FF2B5EF4-FFF2-40B4-BE49-F238E27FC236}">
                <a16:creationId xmlns:a16="http://schemas.microsoft.com/office/drawing/2014/main" id="{C611BF04-8A6B-431C-AE3C-A538540DA1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C8E832-F505-47ED-906E-06492F6D7AFC}"/>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1053805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C839C-BC5F-4572-8BF1-E72A400041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5AF4D5-4FB1-4046-A484-EE6A1D6CB680}"/>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4" name="Footer Placeholder 3">
            <a:extLst>
              <a:ext uri="{FF2B5EF4-FFF2-40B4-BE49-F238E27FC236}">
                <a16:creationId xmlns:a16="http://schemas.microsoft.com/office/drawing/2014/main" id="{A6C4F8BB-F358-4A01-8CB9-DDE9214A39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A92D0F-B2BC-48F3-87B8-0D1BA3E0FFE1}"/>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965220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DA9C8B-79B3-4329-B06F-F496A6361BFB}"/>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3" name="Footer Placeholder 2">
            <a:extLst>
              <a:ext uri="{FF2B5EF4-FFF2-40B4-BE49-F238E27FC236}">
                <a16:creationId xmlns:a16="http://schemas.microsoft.com/office/drawing/2014/main" id="{15084365-6BEE-41A1-8D4B-84FB81FEF0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D55138-F3B0-4ABF-9BA9-2E77E468EAC1}"/>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3122174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BDFBE-50BA-4790-92EC-EBAEAD4F4A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E98565-2805-4F58-9A7C-DC0B26E108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4DE03F-BA99-40E8-A841-7CB5CC4D6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9598475-007B-4387-A8CA-8246534D424D}"/>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6" name="Footer Placeholder 5">
            <a:extLst>
              <a:ext uri="{FF2B5EF4-FFF2-40B4-BE49-F238E27FC236}">
                <a16:creationId xmlns:a16="http://schemas.microsoft.com/office/drawing/2014/main" id="{A2B85364-2F53-4E8A-8675-3F4D33DA26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15D847-1983-457E-8C93-8140C86461EC}"/>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3506765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2B0C3-DDD7-4E68-8230-AA0D2AAE98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E2A6B3-AE7A-46DE-9600-9848C827C4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431E4-C3CD-4386-8D02-B84114B096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E1AF618-FC94-40F9-9EAD-1D783E104632}"/>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6" name="Footer Placeholder 5">
            <a:extLst>
              <a:ext uri="{FF2B5EF4-FFF2-40B4-BE49-F238E27FC236}">
                <a16:creationId xmlns:a16="http://schemas.microsoft.com/office/drawing/2014/main" id="{A10CF426-3B0A-4859-9C5A-B09943833C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06D6E9-66F2-4C43-88E8-4E509E6FF12E}"/>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129585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1224-1909-4385-BD30-7AA37AD828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1C6098-CCDF-403D-B002-E8D74163E92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E857E6-C1EE-4D91-8674-2734376DABA8}"/>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5" name="Footer Placeholder 4">
            <a:extLst>
              <a:ext uri="{FF2B5EF4-FFF2-40B4-BE49-F238E27FC236}">
                <a16:creationId xmlns:a16="http://schemas.microsoft.com/office/drawing/2014/main" id="{6E0E7E8B-ECB2-4222-8118-B3308162F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F84459-AB13-4EA9-9AEB-C94D26DD8E31}"/>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309701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64FFE3-806D-418E-9A19-A2F6839818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1E6DC8-54BE-4279-A3FF-E9A7A194A51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9EA3A4-23CD-47F3-8095-CAC0F58B2927}"/>
              </a:ext>
            </a:extLst>
          </p:cNvPr>
          <p:cNvSpPr>
            <a:spLocks noGrp="1"/>
          </p:cNvSpPr>
          <p:nvPr>
            <p:ph type="dt" sz="half" idx="10"/>
          </p:nvPr>
        </p:nvSpPr>
        <p:spPr/>
        <p:txBody>
          <a:bodyPr/>
          <a:lstStyle/>
          <a:p>
            <a:fld id="{77160CA1-B410-4155-9248-C7C259744A59}" type="datetimeFigureOut">
              <a:rPr lang="en-US" smtClean="0"/>
              <a:t>3/4/2025</a:t>
            </a:fld>
            <a:endParaRPr lang="en-US"/>
          </a:p>
        </p:txBody>
      </p:sp>
      <p:sp>
        <p:nvSpPr>
          <p:cNvPr id="5" name="Footer Placeholder 4">
            <a:extLst>
              <a:ext uri="{FF2B5EF4-FFF2-40B4-BE49-F238E27FC236}">
                <a16:creationId xmlns:a16="http://schemas.microsoft.com/office/drawing/2014/main" id="{F511EDCE-4949-4152-8153-FFACDCF56F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26F269-D925-42C0-8AEE-030C1476DE6E}"/>
              </a:ext>
            </a:extLst>
          </p:cNvPr>
          <p:cNvSpPr>
            <a:spLocks noGrp="1"/>
          </p:cNvSpPr>
          <p:nvPr>
            <p:ph type="sldNum" sz="quarter" idx="12"/>
          </p:nvPr>
        </p:nvSpPr>
        <p:spPr/>
        <p:txBody>
          <a:bodyPr/>
          <a:lstStyle/>
          <a:p>
            <a:fld id="{A4C99A03-B2E1-4A78-907A-5063416A5CC6}" type="slidenum">
              <a:rPr lang="en-US" smtClean="0"/>
              <a:t>‹#›</a:t>
            </a:fld>
            <a:endParaRPr lang="en-US"/>
          </a:p>
        </p:txBody>
      </p:sp>
    </p:spTree>
    <p:extLst>
      <p:ext uri="{BB962C8B-B14F-4D97-AF65-F5344CB8AC3E}">
        <p14:creationId xmlns:p14="http://schemas.microsoft.com/office/powerpoint/2010/main" val="3591986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ED9F8C-2D3C-4ED3-B18C-AADC4E4BE0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111804-08E7-4387-A3FA-3E5936631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F7A7C6-6A47-4C9C-9CF0-FEC5A8E2F1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160CA1-B410-4155-9248-C7C259744A59}" type="datetimeFigureOut">
              <a:rPr lang="en-US" smtClean="0"/>
              <a:t>3/4/2025</a:t>
            </a:fld>
            <a:endParaRPr lang="en-US"/>
          </a:p>
        </p:txBody>
      </p:sp>
      <p:sp>
        <p:nvSpPr>
          <p:cNvPr id="5" name="Footer Placeholder 4">
            <a:extLst>
              <a:ext uri="{FF2B5EF4-FFF2-40B4-BE49-F238E27FC236}">
                <a16:creationId xmlns:a16="http://schemas.microsoft.com/office/drawing/2014/main" id="{274F65EB-CF7D-4FFE-8A9C-EEEE49D75D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2A6667-8469-4C85-9541-A55C2EFADA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C99A03-B2E1-4A78-907A-5063416A5CC6}" type="slidenum">
              <a:rPr lang="en-US" smtClean="0"/>
              <a:t>‹#›</a:t>
            </a:fld>
            <a:endParaRPr lang="en-US"/>
          </a:p>
        </p:txBody>
      </p:sp>
    </p:spTree>
    <p:extLst>
      <p:ext uri="{BB962C8B-B14F-4D97-AF65-F5344CB8AC3E}">
        <p14:creationId xmlns:p14="http://schemas.microsoft.com/office/powerpoint/2010/main" val="3193760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1640A9C-8C9B-4B5E-90A3-70D06F5C9CDD}"/>
              </a:ext>
            </a:extLst>
          </p:cNvPr>
          <p:cNvSpPr>
            <a:spLocks noGrp="1"/>
          </p:cNvSpPr>
          <p:nvPr>
            <p:ph type="subTitle" idx="1"/>
          </p:nvPr>
        </p:nvSpPr>
        <p:spPr>
          <a:xfrm>
            <a:off x="1086678" y="5433391"/>
            <a:ext cx="9144000" cy="1679714"/>
          </a:xfrm>
        </p:spPr>
        <p:txBody>
          <a:bodyPr/>
          <a:lstStyle/>
          <a:p>
            <a:endParaRPr lang="en-US" dirty="0"/>
          </a:p>
          <a:p>
            <a:endParaRPr lang="en-US" dirty="0"/>
          </a:p>
        </p:txBody>
      </p:sp>
      <p:pic>
        <p:nvPicPr>
          <p:cNvPr id="5" name="Picture 4">
            <a:extLst>
              <a:ext uri="{FF2B5EF4-FFF2-40B4-BE49-F238E27FC236}">
                <a16:creationId xmlns:a16="http://schemas.microsoft.com/office/drawing/2014/main" id="{2840D602-2176-4190-9468-376BF78632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2209" y="603515"/>
            <a:ext cx="9144001" cy="6081623"/>
          </a:xfrm>
          <a:prstGeom prst="rect">
            <a:avLst/>
          </a:prstGeom>
        </p:spPr>
      </p:pic>
      <p:sp>
        <p:nvSpPr>
          <p:cNvPr id="2" name="Title 1">
            <a:extLst>
              <a:ext uri="{FF2B5EF4-FFF2-40B4-BE49-F238E27FC236}">
                <a16:creationId xmlns:a16="http://schemas.microsoft.com/office/drawing/2014/main" id="{7BAC3CE9-ABEE-472C-9B38-6BBD6D45E27A}"/>
              </a:ext>
            </a:extLst>
          </p:cNvPr>
          <p:cNvSpPr>
            <a:spLocks noGrp="1"/>
          </p:cNvSpPr>
          <p:nvPr>
            <p:ph type="ctrTitle"/>
          </p:nvPr>
        </p:nvSpPr>
        <p:spPr>
          <a:xfrm>
            <a:off x="662608" y="228365"/>
            <a:ext cx="9992139" cy="2387600"/>
          </a:xfrm>
        </p:spPr>
        <p:txBody>
          <a:bodyPr>
            <a:normAutofit/>
          </a:bodyPr>
          <a:lstStyle/>
          <a:p>
            <a:r>
              <a:rPr lang="en-US" sz="3600" dirty="0">
                <a:effectLst>
                  <a:outerShdw blurRad="38100" dist="38100" dir="2700000" algn="tl">
                    <a:srgbClr val="000000">
                      <a:alpha val="43137"/>
                    </a:srgbClr>
                  </a:outerShdw>
                </a:effectLst>
                <a:latin typeface="Arial Black" panose="020B0A04020102020204" pitchFamily="34" charset="0"/>
              </a:rPr>
              <a:t>	STUDENT FINANCIAL HABIT ANALYSIS</a:t>
            </a:r>
            <a:br>
              <a:rPr lang="en-US" dirty="0">
                <a:effectLst>
                  <a:outerShdw blurRad="38100" dist="38100" dir="2700000" algn="tl">
                    <a:srgbClr val="000000">
                      <a:alpha val="43137"/>
                    </a:srgbClr>
                  </a:outerShdw>
                </a:effectLst>
                <a:latin typeface="Arial Black" panose="020B0A04020102020204" pitchFamily="34" charset="0"/>
              </a:rPr>
            </a:br>
            <a:endParaRPr lang="en-US" dirty="0"/>
          </a:p>
        </p:txBody>
      </p:sp>
      <p:sp>
        <p:nvSpPr>
          <p:cNvPr id="8" name="Rectangle: Rounded Corners 7">
            <a:extLst>
              <a:ext uri="{FF2B5EF4-FFF2-40B4-BE49-F238E27FC236}">
                <a16:creationId xmlns:a16="http://schemas.microsoft.com/office/drawing/2014/main" id="{690DCD0D-F173-43E6-BD7C-CFBB39A64DD4}"/>
              </a:ext>
            </a:extLst>
          </p:cNvPr>
          <p:cNvSpPr/>
          <p:nvPr/>
        </p:nvSpPr>
        <p:spPr>
          <a:xfrm>
            <a:off x="4161182" y="5808870"/>
            <a:ext cx="3382617" cy="102124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4">
                    <a:lumMod val="60000"/>
                    <a:lumOff val="40000"/>
                  </a:schemeClr>
                </a:solidFill>
                <a:effectLst>
                  <a:outerShdw blurRad="38100" dist="38100" dir="2700000" algn="tl">
                    <a:srgbClr val="000000">
                      <a:alpha val="43137"/>
                    </a:srgbClr>
                  </a:outerShdw>
                </a:effectLst>
                <a:latin typeface="Arial Black" panose="020B0A04020102020204" pitchFamily="34" charset="0"/>
              </a:rPr>
              <a:t>By</a:t>
            </a:r>
          </a:p>
          <a:p>
            <a:pPr algn="ctr"/>
            <a:r>
              <a:rPr lang="en-US" dirty="0">
                <a:solidFill>
                  <a:schemeClr val="accent4">
                    <a:lumMod val="60000"/>
                    <a:lumOff val="40000"/>
                  </a:schemeClr>
                </a:solidFill>
                <a:effectLst>
                  <a:outerShdw blurRad="38100" dist="38100" dir="2700000" algn="tl">
                    <a:srgbClr val="000000">
                      <a:alpha val="43137"/>
                    </a:srgbClr>
                  </a:outerShdw>
                </a:effectLst>
                <a:latin typeface="Arial Black" panose="020B0A04020102020204" pitchFamily="34" charset="0"/>
              </a:rPr>
              <a:t> Aaron </a:t>
            </a:r>
            <a:r>
              <a:rPr lang="en-US" dirty="0" err="1">
                <a:solidFill>
                  <a:schemeClr val="accent4">
                    <a:lumMod val="60000"/>
                    <a:lumOff val="40000"/>
                  </a:schemeClr>
                </a:solidFill>
                <a:effectLst>
                  <a:outerShdw blurRad="38100" dist="38100" dir="2700000" algn="tl">
                    <a:srgbClr val="000000">
                      <a:alpha val="43137"/>
                    </a:srgbClr>
                  </a:outerShdw>
                </a:effectLst>
                <a:latin typeface="Arial Black" panose="020B0A04020102020204" pitchFamily="34" charset="0"/>
              </a:rPr>
              <a:t>Otomofa</a:t>
            </a:r>
            <a:endParaRPr lang="en-US" dirty="0">
              <a:solidFill>
                <a:schemeClr val="accent4">
                  <a:lumMod val="60000"/>
                  <a:lumOff val="40000"/>
                </a:schemeClr>
              </a:solidFill>
              <a:effectLst>
                <a:outerShdw blurRad="38100" dist="38100" dir="2700000" algn="tl">
                  <a:srgbClr val="000000">
                    <a:alpha val="43137"/>
                  </a:srgbClr>
                </a:outerShdw>
              </a:effectLst>
              <a:latin typeface="Arial Black" panose="020B0A04020102020204" pitchFamily="34" charset="0"/>
            </a:endParaRPr>
          </a:p>
          <a:p>
            <a:endParaRPr lang="en-US" dirty="0">
              <a:effectLst>
                <a:outerShdw blurRad="38100" dist="38100" dir="2700000" algn="tl">
                  <a:srgbClr val="000000">
                    <a:alpha val="43137"/>
                  </a:srgbClr>
                </a:outerShdw>
              </a:effectLst>
              <a:latin typeface="Arial Black" panose="020B0A04020102020204" pitchFamily="34" charset="0"/>
            </a:endParaRPr>
          </a:p>
        </p:txBody>
      </p:sp>
    </p:spTree>
    <p:extLst>
      <p:ext uri="{BB962C8B-B14F-4D97-AF65-F5344CB8AC3E}">
        <p14:creationId xmlns:p14="http://schemas.microsoft.com/office/powerpoint/2010/main" val="1160039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0A37-0103-4188-B813-B944C56D1791}"/>
              </a:ext>
            </a:extLst>
          </p:cNvPr>
          <p:cNvSpPr>
            <a:spLocks noGrp="1"/>
          </p:cNvSpPr>
          <p:nvPr>
            <p:ph type="title"/>
          </p:nvPr>
        </p:nvSpPr>
        <p:spPr/>
        <p:txBody>
          <a:bodyPr/>
          <a:lstStyle/>
          <a:p>
            <a:pPr algn="ctr"/>
            <a:r>
              <a:rPr lang="en-US" u="sng" dirty="0">
                <a:effectLst>
                  <a:outerShdw blurRad="38100" dist="38100" dir="2700000" algn="tl">
                    <a:srgbClr val="000000">
                      <a:alpha val="43137"/>
                    </a:srgbClr>
                  </a:outerShdw>
                </a:effectLst>
              </a:rPr>
              <a:t>TABLE OF CONTENT</a:t>
            </a:r>
            <a:endParaRPr lang="en-US" dirty="0"/>
          </a:p>
        </p:txBody>
      </p:sp>
      <p:sp>
        <p:nvSpPr>
          <p:cNvPr id="8" name="Content Placeholder 7">
            <a:extLst>
              <a:ext uri="{FF2B5EF4-FFF2-40B4-BE49-F238E27FC236}">
                <a16:creationId xmlns:a16="http://schemas.microsoft.com/office/drawing/2014/main" id="{5FEEF128-F0EE-4597-B1DE-9085ACC93F73}"/>
              </a:ext>
            </a:extLst>
          </p:cNvPr>
          <p:cNvSpPr>
            <a:spLocks noGrp="1"/>
          </p:cNvSpPr>
          <p:nvPr>
            <p:ph idx="1"/>
          </p:nvPr>
        </p:nvSpPr>
        <p:spPr>
          <a:xfrm>
            <a:off x="533400" y="2262948"/>
            <a:ext cx="4701208" cy="3210200"/>
          </a:xfrm>
        </p:spPr>
        <p:txBody>
          <a:bodyPr>
            <a:normAutofit/>
          </a:bodyPr>
          <a:lstStyle/>
          <a:p>
            <a:pPr>
              <a:buFont typeface="Wingdings" panose="05000000000000000000" pitchFamily="2" charset="2"/>
              <a:buChar char="v"/>
            </a:pPr>
            <a:r>
              <a:rPr lang="en-US" dirty="0"/>
              <a:t>PROBLEM STATEMENT</a:t>
            </a:r>
          </a:p>
          <a:p>
            <a:pPr>
              <a:buFont typeface="Wingdings" panose="05000000000000000000" pitchFamily="2" charset="2"/>
              <a:buChar char="v"/>
            </a:pPr>
            <a:r>
              <a:rPr lang="en-US" dirty="0"/>
              <a:t>OBJECTIVES</a:t>
            </a:r>
          </a:p>
          <a:p>
            <a:pPr>
              <a:buFont typeface="Wingdings" panose="05000000000000000000" pitchFamily="2" charset="2"/>
              <a:buChar char="v"/>
            </a:pPr>
            <a:r>
              <a:rPr lang="en-US" dirty="0"/>
              <a:t>INSIGHTS</a:t>
            </a:r>
          </a:p>
          <a:p>
            <a:pPr>
              <a:buFont typeface="Wingdings" panose="05000000000000000000" pitchFamily="2" charset="2"/>
              <a:buChar char="v"/>
            </a:pPr>
            <a:r>
              <a:rPr lang="en-US" dirty="0"/>
              <a:t>RECOMMENDATION</a:t>
            </a:r>
          </a:p>
          <a:p>
            <a:pPr>
              <a:buFont typeface="Wingdings" panose="05000000000000000000" pitchFamily="2" charset="2"/>
              <a:buChar char="v"/>
            </a:pPr>
            <a:r>
              <a:rPr lang="en-US" dirty="0"/>
              <a:t>CONCLUSIONS</a:t>
            </a:r>
          </a:p>
          <a:p>
            <a:endParaRPr lang="en-US" dirty="0"/>
          </a:p>
        </p:txBody>
      </p:sp>
      <p:pic>
        <p:nvPicPr>
          <p:cNvPr id="1028" name="Picture 4">
            <a:extLst>
              <a:ext uri="{FF2B5EF4-FFF2-40B4-BE49-F238E27FC236}">
                <a16:creationId xmlns:a16="http://schemas.microsoft.com/office/drawing/2014/main" id="{A9EEFAF1-50B1-4ECE-9643-BA0ECD5B36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7392" y="1843698"/>
            <a:ext cx="4701208" cy="4048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4351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23A3F9-F766-4307-9DE9-D705A073063A}"/>
              </a:ext>
            </a:extLst>
          </p:cNvPr>
          <p:cNvSpPr>
            <a:spLocks noGrp="1"/>
          </p:cNvSpPr>
          <p:nvPr>
            <p:ph idx="1"/>
          </p:nvPr>
        </p:nvSpPr>
        <p:spPr>
          <a:xfrm>
            <a:off x="467139" y="2302703"/>
            <a:ext cx="6376574" cy="2626485"/>
          </a:xfrm>
        </p:spPr>
        <p:txBody>
          <a:bodyPr/>
          <a:lstStyle/>
          <a:p>
            <a:pPr marL="0" indent="0">
              <a:buNone/>
            </a:pPr>
            <a:r>
              <a:rPr lang="en-US" dirty="0"/>
              <a:t>The analysis aims to gain insights into the spending habits of students’ universities and relationships between these variable and to identify trends and patterns in the spending habits of students. It aims at Exploring Student Financial Behaviors.</a:t>
            </a:r>
          </a:p>
          <a:p>
            <a:endParaRPr lang="en-US" dirty="0"/>
          </a:p>
        </p:txBody>
      </p:sp>
      <p:sp>
        <p:nvSpPr>
          <p:cNvPr id="4" name="Title 1">
            <a:extLst>
              <a:ext uri="{FF2B5EF4-FFF2-40B4-BE49-F238E27FC236}">
                <a16:creationId xmlns:a16="http://schemas.microsoft.com/office/drawing/2014/main" id="{4442E39F-696C-4DBA-B23D-0F2E870A26C9}"/>
              </a:ext>
            </a:extLst>
          </p:cNvPr>
          <p:cNvSpPr>
            <a:spLocks noGrp="1"/>
          </p:cNvSpPr>
          <p:nvPr>
            <p:ph type="title"/>
          </p:nvPr>
        </p:nvSpPr>
        <p:spPr>
          <a:xfrm>
            <a:off x="838200" y="325438"/>
            <a:ext cx="10515600" cy="1325562"/>
          </a:xfrm>
        </p:spPr>
        <p:txBody>
          <a:bodyPr>
            <a:normAutofit/>
          </a:bodyPr>
          <a:lstStyle/>
          <a:p>
            <a:r>
              <a:rPr lang="en-US" sz="4000" u="sng" dirty="0">
                <a:effectLst>
                  <a:outerShdw blurRad="38100" dist="38100" dir="2700000" algn="tl">
                    <a:srgbClr val="000000">
                      <a:alpha val="43137"/>
                    </a:srgbClr>
                  </a:outerShdw>
                </a:effectLst>
              </a:rPr>
              <a:t>PROBLEM STATEMENT</a:t>
            </a:r>
          </a:p>
        </p:txBody>
      </p:sp>
      <p:pic>
        <p:nvPicPr>
          <p:cNvPr id="5" name="Picture 4">
            <a:extLst>
              <a:ext uri="{FF2B5EF4-FFF2-40B4-BE49-F238E27FC236}">
                <a16:creationId xmlns:a16="http://schemas.microsoft.com/office/drawing/2014/main" id="{EF3D7CD3-D91A-4C0A-AF17-967024554F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8866" y="1651000"/>
            <a:ext cx="5290308" cy="3526872"/>
          </a:xfrm>
          <a:prstGeom prst="rect">
            <a:avLst/>
          </a:prstGeom>
        </p:spPr>
      </p:pic>
    </p:spTree>
    <p:extLst>
      <p:ext uri="{BB962C8B-B14F-4D97-AF65-F5344CB8AC3E}">
        <p14:creationId xmlns:p14="http://schemas.microsoft.com/office/powerpoint/2010/main" val="4054542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41D59-F432-4D54-A085-597794645123}"/>
              </a:ext>
            </a:extLst>
          </p:cNvPr>
          <p:cNvSpPr>
            <a:spLocks noGrp="1"/>
          </p:cNvSpPr>
          <p:nvPr>
            <p:ph type="title"/>
          </p:nvPr>
        </p:nvSpPr>
        <p:spPr/>
        <p:txBody>
          <a:bodyPr/>
          <a:lstStyle/>
          <a:p>
            <a:r>
              <a:rPr lang="en-US" u="sng" dirty="0">
                <a:effectLst>
                  <a:outerShdw blurRad="38100" dist="38100" dir="2700000" algn="tl">
                    <a:srgbClr val="000000">
                      <a:alpha val="43137"/>
                    </a:srgbClr>
                  </a:outerShdw>
                </a:effectLst>
              </a:rPr>
              <a:t>OBJECTIVES</a:t>
            </a:r>
            <a:endParaRPr lang="en-US" dirty="0"/>
          </a:p>
        </p:txBody>
      </p:sp>
      <p:sp>
        <p:nvSpPr>
          <p:cNvPr id="3" name="Content Placeholder 2">
            <a:extLst>
              <a:ext uri="{FF2B5EF4-FFF2-40B4-BE49-F238E27FC236}">
                <a16:creationId xmlns:a16="http://schemas.microsoft.com/office/drawing/2014/main" id="{49CF9660-E1B1-4BD3-BA9A-D89388E0669F}"/>
              </a:ext>
            </a:extLst>
          </p:cNvPr>
          <p:cNvSpPr>
            <a:spLocks noGrp="1"/>
          </p:cNvSpPr>
          <p:nvPr>
            <p:ph idx="1"/>
          </p:nvPr>
        </p:nvSpPr>
        <p:spPr>
          <a:xfrm>
            <a:off x="838200" y="1825625"/>
            <a:ext cx="9334500" cy="3560763"/>
          </a:xfrm>
        </p:spPr>
        <p:txBody>
          <a:bodyPr>
            <a:normAutofit fontScale="70000" lnSpcReduction="20000"/>
          </a:bodyPr>
          <a:lstStyle/>
          <a:p>
            <a:pPr marL="0" indent="0">
              <a:buNone/>
            </a:pPr>
            <a:r>
              <a:rPr lang="en-US" dirty="0"/>
              <a:t>This project aims to uncover patterns in students spending behaviors and to uncover the financial habits.</a:t>
            </a:r>
          </a:p>
          <a:p>
            <a:pPr marL="0" indent="0">
              <a:buNone/>
            </a:pPr>
            <a:r>
              <a:rPr lang="en-US" dirty="0"/>
              <a:t>Key Objectives includes: </a:t>
            </a:r>
            <a:endParaRPr lang="en-US" b="1" u="sng" dirty="0"/>
          </a:p>
          <a:p>
            <a:pPr lvl="0"/>
            <a:r>
              <a:rPr lang="en-US" dirty="0"/>
              <a:t>To Determine the major with the highest tuition fee</a:t>
            </a:r>
          </a:p>
          <a:p>
            <a:pPr lvl="0"/>
            <a:r>
              <a:rPr lang="en-US" dirty="0"/>
              <a:t>To determine the major with the highest total expenses (sum of all expenses except tuition).</a:t>
            </a:r>
          </a:p>
          <a:p>
            <a:pPr lvl="0"/>
            <a:r>
              <a:rPr lang="en-US" dirty="0"/>
              <a:t>To Determine the expenses incurred by each Age group.</a:t>
            </a:r>
          </a:p>
          <a:p>
            <a:pPr lvl="0"/>
            <a:r>
              <a:rPr lang="en-US" dirty="0"/>
              <a:t>To estimate the income of student across various levels.</a:t>
            </a:r>
          </a:p>
          <a:p>
            <a:pPr lvl="0"/>
            <a:r>
              <a:rPr lang="en-US" dirty="0"/>
              <a:t>To investigate the financial strain on the students for effective planning.</a:t>
            </a:r>
          </a:p>
          <a:p>
            <a:pPr lvl="0"/>
            <a:r>
              <a:rPr lang="en-US" dirty="0"/>
              <a:t>To uncover the most common payment method.</a:t>
            </a:r>
          </a:p>
          <a:p>
            <a:pPr lvl="0"/>
            <a:r>
              <a:rPr lang="en-US" dirty="0"/>
              <a:t>To uncover the age group of students in the various levels in schools.</a:t>
            </a:r>
          </a:p>
          <a:p>
            <a:endParaRPr lang="en-US" dirty="0"/>
          </a:p>
        </p:txBody>
      </p:sp>
    </p:spTree>
    <p:extLst>
      <p:ext uri="{BB962C8B-B14F-4D97-AF65-F5344CB8AC3E}">
        <p14:creationId xmlns:p14="http://schemas.microsoft.com/office/powerpoint/2010/main" val="702316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13EF3-A594-448B-A8C3-853B4E16309F}"/>
              </a:ext>
            </a:extLst>
          </p:cNvPr>
          <p:cNvSpPr>
            <a:spLocks noGrp="1"/>
          </p:cNvSpPr>
          <p:nvPr>
            <p:ph type="title"/>
          </p:nvPr>
        </p:nvSpPr>
        <p:spPr>
          <a:xfrm>
            <a:off x="738187" y="62338"/>
            <a:ext cx="10515600" cy="1325563"/>
          </a:xfrm>
        </p:spPr>
        <p:txBody>
          <a:bodyPr>
            <a:normAutofit/>
          </a:bodyPr>
          <a:lstStyle/>
          <a:p>
            <a:pPr algn="ctr"/>
            <a:r>
              <a:rPr lang="en-US" b="1" u="sng" dirty="0"/>
              <a:t>INSIGHTS AND FINDINGS</a:t>
            </a:r>
          </a:p>
        </p:txBody>
      </p:sp>
      <p:sp>
        <p:nvSpPr>
          <p:cNvPr id="3" name="Content Placeholder 2">
            <a:extLst>
              <a:ext uri="{FF2B5EF4-FFF2-40B4-BE49-F238E27FC236}">
                <a16:creationId xmlns:a16="http://schemas.microsoft.com/office/drawing/2014/main" id="{F550AC79-738F-4A1D-A5EC-25E6E6508CF6}"/>
              </a:ext>
            </a:extLst>
          </p:cNvPr>
          <p:cNvSpPr>
            <a:spLocks noGrp="1"/>
          </p:cNvSpPr>
          <p:nvPr>
            <p:ph idx="1"/>
          </p:nvPr>
        </p:nvSpPr>
        <p:spPr>
          <a:xfrm>
            <a:off x="8695619" y="3694289"/>
            <a:ext cx="2852737" cy="3084336"/>
          </a:xfrm>
        </p:spPr>
        <p:txBody>
          <a:bodyPr>
            <a:normAutofit fontScale="92500"/>
          </a:bodyPr>
          <a:lstStyle/>
          <a:p>
            <a:r>
              <a:rPr lang="en-US" dirty="0"/>
              <a:t>From the analysis, Engineering has the lowest Tuition fee, while psychology has the highest tuition fee. </a:t>
            </a:r>
          </a:p>
        </p:txBody>
      </p:sp>
      <p:sp>
        <p:nvSpPr>
          <p:cNvPr id="10" name="Title 1">
            <a:extLst>
              <a:ext uri="{FF2B5EF4-FFF2-40B4-BE49-F238E27FC236}">
                <a16:creationId xmlns:a16="http://schemas.microsoft.com/office/drawing/2014/main" id="{950E45EB-65C8-4F42-8294-F50F99E6A1DE}"/>
              </a:ext>
            </a:extLst>
          </p:cNvPr>
          <p:cNvSpPr txBox="1">
            <a:spLocks/>
          </p:cNvSpPr>
          <p:nvPr/>
        </p:nvSpPr>
        <p:spPr>
          <a:xfrm>
            <a:off x="4657726" y="2543175"/>
            <a:ext cx="8185325" cy="944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b="1" u="sng" dirty="0"/>
          </a:p>
        </p:txBody>
      </p:sp>
      <p:pic>
        <p:nvPicPr>
          <p:cNvPr id="2054" name="Picture 6">
            <a:extLst>
              <a:ext uri="{FF2B5EF4-FFF2-40B4-BE49-F238E27FC236}">
                <a16:creationId xmlns:a16="http://schemas.microsoft.com/office/drawing/2014/main" id="{8CD0EA31-C263-4AC8-BD14-52123D2BA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4121" y="1874884"/>
            <a:ext cx="4872036" cy="455449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E96BABD4-0449-46EB-8B88-9B7F82B5076D}"/>
              </a:ext>
            </a:extLst>
          </p:cNvPr>
          <p:cNvSpPr/>
          <p:nvPr/>
        </p:nvSpPr>
        <p:spPr>
          <a:xfrm>
            <a:off x="533145" y="1217378"/>
            <a:ext cx="5462842" cy="373500"/>
          </a:xfrm>
          <a:prstGeom prst="rect">
            <a:avLst/>
          </a:prstGeom>
        </p:spPr>
        <p:txBody>
          <a:bodyPr wrap="none">
            <a:spAutoFit/>
          </a:bodyPr>
          <a:lstStyle/>
          <a:p>
            <a:pPr marL="342900" marR="0" lvl="0" indent="-342900">
              <a:lnSpc>
                <a:spcPct val="106000"/>
              </a:lnSpc>
              <a:spcBef>
                <a:spcPts val="0"/>
              </a:spcBef>
              <a:spcAft>
                <a:spcPts val="800"/>
              </a:spcAft>
              <a:buFont typeface="+mj-lt"/>
              <a:buAutoNum type="arabicPeriod"/>
            </a:pPr>
            <a:r>
              <a:rPr lang="en-US" b="1" dirty="0">
                <a:latin typeface="Calibri" panose="020F0502020204030204" pitchFamily="34" charset="0"/>
                <a:ea typeface="Calibri" panose="020F0502020204030204" pitchFamily="34" charset="0"/>
                <a:cs typeface="Times New Roman" panose="02020603050405020304" pitchFamily="18" charset="0"/>
              </a:rPr>
              <a:t>To Determine the major with the highest tuition fee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46514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07002-B10F-4AE6-AC05-346484230F57}"/>
              </a:ext>
            </a:extLst>
          </p:cNvPr>
          <p:cNvSpPr>
            <a:spLocks noGrp="1"/>
          </p:cNvSpPr>
          <p:nvPr>
            <p:ph type="title"/>
          </p:nvPr>
        </p:nvSpPr>
        <p:spPr>
          <a:xfrm>
            <a:off x="309563" y="307975"/>
            <a:ext cx="10515600" cy="1325563"/>
          </a:xfrm>
        </p:spPr>
        <p:txBody>
          <a:bodyPr>
            <a:normAutofit fontScale="90000"/>
          </a:bodyPr>
          <a:lstStyle/>
          <a:p>
            <a:r>
              <a:rPr lang="en-US" sz="3100" b="1" dirty="0" err="1"/>
              <a:t>2.To</a:t>
            </a:r>
            <a:r>
              <a:rPr lang="en-US" sz="3100" b="1" dirty="0"/>
              <a:t> determine the major with the highest total expenses (sum of all expenses except tuition).</a:t>
            </a:r>
            <a:br>
              <a:rPr lang="en-US" dirty="0"/>
            </a:br>
            <a:endParaRPr lang="en-US" dirty="0"/>
          </a:p>
        </p:txBody>
      </p:sp>
      <p:pic>
        <p:nvPicPr>
          <p:cNvPr id="4" name="Content Placeholder 3" descr="C:\Users\user\AppData\Local\Microsoft\Windows\INetCache\Content.MSO\6C3F1614.tmp">
            <a:extLst>
              <a:ext uri="{FF2B5EF4-FFF2-40B4-BE49-F238E27FC236}">
                <a16:creationId xmlns:a16="http://schemas.microsoft.com/office/drawing/2014/main" id="{D7D1AC15-26CA-42F4-8CFF-95C6FCFC9562}"/>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1689" y="1314450"/>
            <a:ext cx="6206286" cy="5235575"/>
          </a:xfrm>
          <a:prstGeom prst="rect">
            <a:avLst/>
          </a:prstGeom>
          <a:noFill/>
          <a:ln>
            <a:noFill/>
          </a:ln>
        </p:spPr>
      </p:pic>
      <p:sp>
        <p:nvSpPr>
          <p:cNvPr id="6" name="Title 1">
            <a:extLst>
              <a:ext uri="{FF2B5EF4-FFF2-40B4-BE49-F238E27FC236}">
                <a16:creationId xmlns:a16="http://schemas.microsoft.com/office/drawing/2014/main" id="{CD046DC2-DD79-4C11-BFB5-8302D7AB7DEA}"/>
              </a:ext>
            </a:extLst>
          </p:cNvPr>
          <p:cNvSpPr txBox="1">
            <a:spLocks/>
          </p:cNvSpPr>
          <p:nvPr/>
        </p:nvSpPr>
        <p:spPr>
          <a:xfrm>
            <a:off x="6800101" y="4489449"/>
            <a:ext cx="4962525" cy="1325563"/>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it can be seen that biology incurs the highest total expenses while psychology has the lowest. </a:t>
            </a:r>
          </a:p>
        </p:txBody>
      </p:sp>
    </p:spTree>
    <p:extLst>
      <p:ext uri="{BB962C8B-B14F-4D97-AF65-F5344CB8AC3E}">
        <p14:creationId xmlns:p14="http://schemas.microsoft.com/office/powerpoint/2010/main" val="31136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76081-853C-4AAF-A5CE-DAC86280C36C}"/>
              </a:ext>
            </a:extLst>
          </p:cNvPr>
          <p:cNvSpPr>
            <a:spLocks noGrp="1"/>
          </p:cNvSpPr>
          <p:nvPr>
            <p:ph type="title"/>
          </p:nvPr>
        </p:nvSpPr>
        <p:spPr/>
        <p:txBody>
          <a:bodyPr>
            <a:normAutofit fontScale="90000"/>
          </a:bodyPr>
          <a:lstStyle/>
          <a:p>
            <a:r>
              <a:rPr lang="en-US" sz="3600" b="1" dirty="0"/>
              <a:t>3. To Determine the expenses incurred by each Age group.</a:t>
            </a:r>
            <a:br>
              <a:rPr lang="en-US" dirty="0"/>
            </a:br>
            <a:endParaRPr lang="en-US" dirty="0"/>
          </a:p>
        </p:txBody>
      </p:sp>
      <p:pic>
        <p:nvPicPr>
          <p:cNvPr id="4" name="Content Placeholder 3" descr="C:\Users\user\AppData\Local\Microsoft\Windows\INetCache\Content.MSO\B54A81EC.tmp">
            <a:extLst>
              <a:ext uri="{FF2B5EF4-FFF2-40B4-BE49-F238E27FC236}">
                <a16:creationId xmlns:a16="http://schemas.microsoft.com/office/drawing/2014/main" id="{376D2FD6-2048-410E-8309-BEDB3C4C8453}"/>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8139" y="1489548"/>
            <a:ext cx="7402836" cy="4625502"/>
          </a:xfrm>
          <a:prstGeom prst="rect">
            <a:avLst/>
          </a:prstGeom>
          <a:noFill/>
          <a:ln>
            <a:noFill/>
          </a:ln>
        </p:spPr>
      </p:pic>
      <p:sp>
        <p:nvSpPr>
          <p:cNvPr id="5" name="Title 1">
            <a:extLst>
              <a:ext uri="{FF2B5EF4-FFF2-40B4-BE49-F238E27FC236}">
                <a16:creationId xmlns:a16="http://schemas.microsoft.com/office/drawing/2014/main" id="{08FDA5B1-F536-43A9-B8B6-B305D672070E}"/>
              </a:ext>
            </a:extLst>
          </p:cNvPr>
          <p:cNvSpPr txBox="1">
            <a:spLocks/>
          </p:cNvSpPr>
          <p:nvPr/>
        </p:nvSpPr>
        <p:spPr>
          <a:xfrm>
            <a:off x="7524749" y="5167312"/>
            <a:ext cx="4491039" cy="1325563"/>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From the analysis above, the </a:t>
            </a:r>
            <a:r>
              <a:rPr lang="en-US" dirty="0" err="1"/>
              <a:t>age_group</a:t>
            </a:r>
            <a:r>
              <a:rPr lang="en-US" dirty="0"/>
              <a:t> 20-22, incurs the most expenses. </a:t>
            </a:r>
          </a:p>
          <a:p>
            <a:endParaRPr lang="en-US" dirty="0"/>
          </a:p>
        </p:txBody>
      </p:sp>
    </p:spTree>
    <p:extLst>
      <p:ext uri="{BB962C8B-B14F-4D97-AF65-F5344CB8AC3E}">
        <p14:creationId xmlns:p14="http://schemas.microsoft.com/office/powerpoint/2010/main" val="3883089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7A2C4-DCED-4866-9255-6EDEF90AE3ED}"/>
              </a:ext>
            </a:extLst>
          </p:cNvPr>
          <p:cNvSpPr>
            <a:spLocks noGrp="1"/>
          </p:cNvSpPr>
          <p:nvPr>
            <p:ph type="title"/>
          </p:nvPr>
        </p:nvSpPr>
        <p:spPr/>
        <p:txBody>
          <a:bodyPr>
            <a:normAutofit fontScale="90000"/>
          </a:bodyPr>
          <a:lstStyle/>
          <a:p>
            <a:r>
              <a:rPr lang="en-US" sz="4000" b="1" dirty="0"/>
              <a:t>4. To estimate the income of student in various levels.</a:t>
            </a:r>
            <a:br>
              <a:rPr lang="en-US" dirty="0"/>
            </a:br>
            <a:endParaRPr lang="en-US" dirty="0"/>
          </a:p>
        </p:txBody>
      </p:sp>
      <p:pic>
        <p:nvPicPr>
          <p:cNvPr id="4" name="Content Placeholder 3" descr="C:\Users\user\AppData\Local\Microsoft\Windows\INetCache\Content.MSO\659657F8.tmp">
            <a:extLst>
              <a:ext uri="{FF2B5EF4-FFF2-40B4-BE49-F238E27FC236}">
                <a16:creationId xmlns:a16="http://schemas.microsoft.com/office/drawing/2014/main" id="{E808FC7B-A707-4057-ADBD-E731105EA21A}"/>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2414" y="1690688"/>
            <a:ext cx="8360099" cy="4681537"/>
          </a:xfrm>
          <a:prstGeom prst="rect">
            <a:avLst/>
          </a:prstGeom>
          <a:noFill/>
          <a:ln>
            <a:noFill/>
          </a:ln>
        </p:spPr>
      </p:pic>
      <p:sp>
        <p:nvSpPr>
          <p:cNvPr id="5" name="Title 1">
            <a:extLst>
              <a:ext uri="{FF2B5EF4-FFF2-40B4-BE49-F238E27FC236}">
                <a16:creationId xmlns:a16="http://schemas.microsoft.com/office/drawing/2014/main" id="{47F830D5-8616-4CEF-872A-541FD02C7026}"/>
              </a:ext>
            </a:extLst>
          </p:cNvPr>
          <p:cNvSpPr txBox="1">
            <a:spLocks/>
          </p:cNvSpPr>
          <p:nvPr/>
        </p:nvSpPr>
        <p:spPr>
          <a:xfrm>
            <a:off x="8386763" y="4929187"/>
            <a:ext cx="3805237"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t>freshman have the highest income and sophomores have the lowest average income.</a:t>
            </a:r>
          </a:p>
        </p:txBody>
      </p:sp>
    </p:spTree>
    <p:extLst>
      <p:ext uri="{BB962C8B-B14F-4D97-AF65-F5344CB8AC3E}">
        <p14:creationId xmlns:p14="http://schemas.microsoft.com/office/powerpoint/2010/main" val="1363486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D3830-0DEA-4F05-8012-8A599850868E}"/>
              </a:ext>
            </a:extLst>
          </p:cNvPr>
          <p:cNvSpPr>
            <a:spLocks noGrp="1"/>
          </p:cNvSpPr>
          <p:nvPr>
            <p:ph type="title"/>
          </p:nvPr>
        </p:nvSpPr>
        <p:spPr>
          <a:xfrm>
            <a:off x="838200" y="365125"/>
            <a:ext cx="10515600" cy="1325563"/>
          </a:xfrm>
        </p:spPr>
        <p:txBody>
          <a:bodyPr>
            <a:normAutofit/>
          </a:bodyPr>
          <a:lstStyle/>
          <a:p>
            <a:pPr lvl="0"/>
            <a:r>
              <a:rPr lang="en-US" sz="3200" b="1" dirty="0"/>
              <a:t>5. To investigate the financial strain on the students for effective planning.</a:t>
            </a:r>
          </a:p>
        </p:txBody>
      </p:sp>
      <p:pic>
        <p:nvPicPr>
          <p:cNvPr id="4" name="Content Placeholder 3" descr="C:\Users\user\AppData\Local\Microsoft\Windows\INetCache\Content.MSO\D2F7FF72.tmp">
            <a:extLst>
              <a:ext uri="{FF2B5EF4-FFF2-40B4-BE49-F238E27FC236}">
                <a16:creationId xmlns:a16="http://schemas.microsoft.com/office/drawing/2014/main" id="{F5CEF78B-9A23-4E71-BCC1-B818EEA093B7}"/>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04253" y="1450176"/>
            <a:ext cx="6249547" cy="5042699"/>
          </a:xfrm>
          <a:prstGeom prst="rect">
            <a:avLst/>
          </a:prstGeom>
          <a:noFill/>
          <a:ln>
            <a:noFill/>
          </a:ln>
        </p:spPr>
      </p:pic>
      <p:sp>
        <p:nvSpPr>
          <p:cNvPr id="5" name="Title 1">
            <a:extLst>
              <a:ext uri="{FF2B5EF4-FFF2-40B4-BE49-F238E27FC236}">
                <a16:creationId xmlns:a16="http://schemas.microsoft.com/office/drawing/2014/main" id="{B3DDC01C-6346-48D4-A724-3673CABF4763}"/>
              </a:ext>
            </a:extLst>
          </p:cNvPr>
          <p:cNvSpPr txBox="1">
            <a:spLocks/>
          </p:cNvSpPr>
          <p:nvPr/>
        </p:nvSpPr>
        <p:spPr>
          <a:xfrm>
            <a:off x="241740" y="2415775"/>
            <a:ext cx="5181601" cy="2713438"/>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Students in Senior, and 23-25 age group are mostly financially strained. </a:t>
            </a:r>
          </a:p>
          <a:p>
            <a:r>
              <a:rPr lang="en-US" b="1" dirty="0"/>
              <a:t>Also, in gender, male students are also mostly financially strained. </a:t>
            </a:r>
          </a:p>
          <a:p>
            <a:r>
              <a:rPr lang="en-US" b="1" dirty="0"/>
              <a:t>NB: financially strained students are those whose total expenses is higher than their total income. With yes being true and No being false. </a:t>
            </a:r>
          </a:p>
        </p:txBody>
      </p:sp>
    </p:spTree>
    <p:extLst>
      <p:ext uri="{BB962C8B-B14F-4D97-AF65-F5344CB8AC3E}">
        <p14:creationId xmlns:p14="http://schemas.microsoft.com/office/powerpoint/2010/main" val="3240639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C356F-73F1-4D8F-B698-235BD59C2214}"/>
              </a:ext>
            </a:extLst>
          </p:cNvPr>
          <p:cNvSpPr>
            <a:spLocks noGrp="1"/>
          </p:cNvSpPr>
          <p:nvPr>
            <p:ph type="title"/>
          </p:nvPr>
        </p:nvSpPr>
        <p:spPr/>
        <p:txBody>
          <a:bodyPr>
            <a:normAutofit/>
          </a:bodyPr>
          <a:lstStyle/>
          <a:p>
            <a:r>
              <a:rPr lang="en-US" sz="4000" b="1" dirty="0"/>
              <a:t>6. To uncover the most common payment method.</a:t>
            </a:r>
            <a:br>
              <a:rPr lang="en-US" dirty="0"/>
            </a:br>
            <a:endParaRPr lang="en-US" dirty="0"/>
          </a:p>
        </p:txBody>
      </p:sp>
      <p:pic>
        <p:nvPicPr>
          <p:cNvPr id="4" name="Content Placeholder 3" descr="C:\Users\user\AppData\Local\Microsoft\Windows\INetCache\Content.MSO\992B3A8.tmp">
            <a:extLst>
              <a:ext uri="{FF2B5EF4-FFF2-40B4-BE49-F238E27FC236}">
                <a16:creationId xmlns:a16="http://schemas.microsoft.com/office/drawing/2014/main" id="{F1DB42C4-59E7-4445-91C3-B861037EBA93}"/>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2497" y="1690688"/>
            <a:ext cx="6142678" cy="4173508"/>
          </a:xfrm>
          <a:prstGeom prst="rect">
            <a:avLst/>
          </a:prstGeom>
          <a:noFill/>
          <a:ln>
            <a:noFill/>
          </a:ln>
        </p:spPr>
      </p:pic>
      <p:sp>
        <p:nvSpPr>
          <p:cNvPr id="5" name="Title 1">
            <a:extLst>
              <a:ext uri="{FF2B5EF4-FFF2-40B4-BE49-F238E27FC236}">
                <a16:creationId xmlns:a16="http://schemas.microsoft.com/office/drawing/2014/main" id="{16279750-90CA-4622-B25D-D1FC2C4F264A}"/>
              </a:ext>
            </a:extLst>
          </p:cNvPr>
          <p:cNvSpPr txBox="1">
            <a:spLocks/>
          </p:cNvSpPr>
          <p:nvPr/>
        </p:nvSpPr>
        <p:spPr>
          <a:xfrm>
            <a:off x="7249472" y="4538633"/>
            <a:ext cx="4781550" cy="1325563"/>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The most preferred payment method is mobile app payment, followed closely by credit/debit card. </a:t>
            </a:r>
          </a:p>
          <a:p>
            <a:endParaRPr lang="en-US" dirty="0"/>
          </a:p>
        </p:txBody>
      </p:sp>
    </p:spTree>
    <p:extLst>
      <p:ext uri="{BB962C8B-B14F-4D97-AF65-F5344CB8AC3E}">
        <p14:creationId xmlns:p14="http://schemas.microsoft.com/office/powerpoint/2010/main" val="1105354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E60A3-1001-42A7-B0E5-A82453772AFA}"/>
              </a:ext>
            </a:extLst>
          </p:cNvPr>
          <p:cNvSpPr>
            <a:spLocks noGrp="1"/>
          </p:cNvSpPr>
          <p:nvPr>
            <p:ph type="title"/>
          </p:nvPr>
        </p:nvSpPr>
        <p:spPr/>
        <p:txBody>
          <a:bodyPr>
            <a:normAutofit fontScale="90000"/>
          </a:bodyPr>
          <a:lstStyle/>
          <a:p>
            <a:r>
              <a:rPr lang="en-US" sz="3600" b="1" dirty="0"/>
              <a:t>7. To uncover the age group of students in the various levels in schools.</a:t>
            </a:r>
            <a:br>
              <a:rPr lang="en-US" dirty="0"/>
            </a:br>
            <a:endParaRPr lang="en-US" dirty="0"/>
          </a:p>
        </p:txBody>
      </p:sp>
      <p:sp>
        <p:nvSpPr>
          <p:cNvPr id="4" name="Title 1">
            <a:extLst>
              <a:ext uri="{FF2B5EF4-FFF2-40B4-BE49-F238E27FC236}">
                <a16:creationId xmlns:a16="http://schemas.microsoft.com/office/drawing/2014/main" id="{04EE99F7-CB3E-47F7-ABDB-51292D6EB56E}"/>
              </a:ext>
            </a:extLst>
          </p:cNvPr>
          <p:cNvSpPr txBox="1">
            <a:spLocks/>
          </p:cNvSpPr>
          <p:nvPr/>
        </p:nvSpPr>
        <p:spPr>
          <a:xfrm>
            <a:off x="6310312" y="4518025"/>
            <a:ext cx="5043488" cy="1325563"/>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 The age </a:t>
            </a:r>
            <a:r>
              <a:rPr lang="en-US" b="1" dirty="0" err="1"/>
              <a:t>goup</a:t>
            </a:r>
            <a:r>
              <a:rPr lang="en-US" b="1" dirty="0"/>
              <a:t> of students in the various levels with 23-25 having the most population. </a:t>
            </a:r>
          </a:p>
        </p:txBody>
      </p:sp>
      <p:pic>
        <p:nvPicPr>
          <p:cNvPr id="5" name="Content Placeholder 4" descr="C:\Users\user\AppData\Local\Microsoft\Windows\INetCache\Content.MSO\6F425FF6.tmp">
            <a:extLst>
              <a:ext uri="{FF2B5EF4-FFF2-40B4-BE49-F238E27FC236}">
                <a16:creationId xmlns:a16="http://schemas.microsoft.com/office/drawing/2014/main" id="{12452842-C2B6-492C-BA66-BA787DBE56A3}"/>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0686" y="1690688"/>
            <a:ext cx="6079626" cy="4815682"/>
          </a:xfrm>
          <a:prstGeom prst="rect">
            <a:avLst/>
          </a:prstGeom>
          <a:noFill/>
          <a:ln>
            <a:noFill/>
          </a:ln>
        </p:spPr>
      </p:pic>
    </p:spTree>
    <p:extLst>
      <p:ext uri="{BB962C8B-B14F-4D97-AF65-F5344CB8AC3E}">
        <p14:creationId xmlns:p14="http://schemas.microsoft.com/office/powerpoint/2010/main" val="1493196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AB820-0FFF-46AE-8894-E384A842B6C1}"/>
              </a:ext>
            </a:extLst>
          </p:cNvPr>
          <p:cNvSpPr>
            <a:spLocks noGrp="1"/>
          </p:cNvSpPr>
          <p:nvPr>
            <p:ph type="title"/>
          </p:nvPr>
        </p:nvSpPr>
        <p:spPr/>
        <p:txBody>
          <a:bodyPr/>
          <a:lstStyle/>
          <a:p>
            <a:pPr algn="ctr"/>
            <a:r>
              <a:rPr lang="en-US" b="1" u="sng" dirty="0"/>
              <a:t>Conclusion</a:t>
            </a:r>
            <a:br>
              <a:rPr lang="en-US" dirty="0"/>
            </a:br>
            <a:endParaRPr lang="en-US" dirty="0"/>
          </a:p>
        </p:txBody>
      </p:sp>
      <p:sp>
        <p:nvSpPr>
          <p:cNvPr id="3" name="Content Placeholder 2">
            <a:extLst>
              <a:ext uri="{FF2B5EF4-FFF2-40B4-BE49-F238E27FC236}">
                <a16:creationId xmlns:a16="http://schemas.microsoft.com/office/drawing/2014/main" id="{D2543AF7-D0FD-45E4-B643-6C3FED8E2C8C}"/>
              </a:ext>
            </a:extLst>
          </p:cNvPr>
          <p:cNvSpPr>
            <a:spLocks noGrp="1"/>
          </p:cNvSpPr>
          <p:nvPr>
            <p:ph idx="1"/>
          </p:nvPr>
        </p:nvSpPr>
        <p:spPr>
          <a:xfrm>
            <a:off x="838200" y="1825625"/>
            <a:ext cx="9720263" cy="3246438"/>
          </a:xfrm>
        </p:spPr>
        <p:txBody>
          <a:bodyPr>
            <a:normAutofit fontScale="55000" lnSpcReduction="20000"/>
          </a:bodyPr>
          <a:lstStyle/>
          <a:p>
            <a:r>
              <a:rPr lang="en-US" b="1" u="sng" dirty="0"/>
              <a:t>Findings: </a:t>
            </a:r>
          </a:p>
          <a:p>
            <a:pPr lvl="0"/>
            <a:r>
              <a:rPr lang="en-US" dirty="0"/>
              <a:t>Engineering has the least average tuition fee, while psychology has the highest. </a:t>
            </a:r>
          </a:p>
          <a:p>
            <a:pPr lvl="0"/>
            <a:r>
              <a:rPr lang="en-US" dirty="0"/>
              <a:t>it can be seen that biology incurs the highest total expenses while psychology has the lowest. </a:t>
            </a:r>
          </a:p>
          <a:p>
            <a:pPr lvl="0"/>
            <a:r>
              <a:rPr lang="en-US" dirty="0"/>
              <a:t>From the analysis above, the </a:t>
            </a:r>
            <a:r>
              <a:rPr lang="en-US" dirty="0" err="1"/>
              <a:t>age_group</a:t>
            </a:r>
            <a:r>
              <a:rPr lang="en-US" dirty="0"/>
              <a:t> 20-22, incurs the most expenses. </a:t>
            </a:r>
          </a:p>
          <a:p>
            <a:pPr lvl="0"/>
            <a:r>
              <a:rPr lang="en-US" dirty="0"/>
              <a:t>Also, in some certain majors like computer and biology students, 23-25 age group incurs the most expenses.</a:t>
            </a:r>
          </a:p>
          <a:p>
            <a:pPr lvl="0"/>
            <a:r>
              <a:rPr lang="en-US" dirty="0"/>
              <a:t>Freshmen have the highest income and sophomores have the lowest average income</a:t>
            </a:r>
          </a:p>
          <a:p>
            <a:pPr lvl="0"/>
            <a:r>
              <a:rPr lang="en-US" dirty="0"/>
              <a:t>Engineering major students have the highest income..</a:t>
            </a:r>
          </a:p>
          <a:p>
            <a:pPr lvl="0"/>
            <a:r>
              <a:rPr lang="en-US" dirty="0"/>
              <a:t>Students in Senior, and 23-25 age group are mostly financially strained. </a:t>
            </a:r>
          </a:p>
          <a:p>
            <a:pPr lvl="0"/>
            <a:r>
              <a:rPr lang="en-US" dirty="0"/>
              <a:t>Also, in gender, male students are mostly financially strained. </a:t>
            </a:r>
          </a:p>
          <a:p>
            <a:pPr lvl="0"/>
            <a:r>
              <a:rPr lang="en-US" dirty="0"/>
              <a:t>The most preferred payment method is mobile app payment, followed closely by credit/debit card. </a:t>
            </a:r>
          </a:p>
          <a:p>
            <a:endParaRPr lang="en-US" dirty="0"/>
          </a:p>
        </p:txBody>
      </p:sp>
    </p:spTree>
    <p:extLst>
      <p:ext uri="{BB962C8B-B14F-4D97-AF65-F5344CB8AC3E}">
        <p14:creationId xmlns:p14="http://schemas.microsoft.com/office/powerpoint/2010/main" val="931141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986AC7-6357-4DB8-B8D0-C0F69E0413C1}"/>
              </a:ext>
            </a:extLst>
          </p:cNvPr>
          <p:cNvSpPr>
            <a:spLocks noGrp="1"/>
          </p:cNvSpPr>
          <p:nvPr>
            <p:ph idx="1"/>
          </p:nvPr>
        </p:nvSpPr>
        <p:spPr>
          <a:xfrm>
            <a:off x="838200" y="1825625"/>
            <a:ext cx="10515600" cy="4351338"/>
          </a:xfrm>
        </p:spPr>
        <p:txBody>
          <a:bodyPr/>
          <a:lstStyle/>
          <a:p>
            <a:pPr marL="0" indent="0">
              <a:buNone/>
            </a:pPr>
            <a:r>
              <a:rPr lang="en-US" b="1" u="sng" dirty="0"/>
              <a:t>Conclusion;</a:t>
            </a:r>
            <a:endParaRPr lang="en-US" dirty="0"/>
          </a:p>
          <a:p>
            <a:r>
              <a:rPr lang="en-US" dirty="0"/>
              <a:t>The analysis carried out on the dataset provides insights into the relationships between demographic, financial, and academic variables. The results can be used to inform policy decisions and resource allocation. Further analysis can be carried out to explore other research questions and hypotheses.</a:t>
            </a:r>
          </a:p>
          <a:p>
            <a:endParaRPr lang="en-US" b="1" u="sng" dirty="0"/>
          </a:p>
        </p:txBody>
      </p:sp>
    </p:spTree>
    <p:extLst>
      <p:ext uri="{BB962C8B-B14F-4D97-AF65-F5344CB8AC3E}">
        <p14:creationId xmlns:p14="http://schemas.microsoft.com/office/powerpoint/2010/main" val="811808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TotalTime>
  <Words>599</Words>
  <Application>Microsoft Office PowerPoint</Application>
  <PresentationFormat>Widescreen</PresentationFormat>
  <Paragraphs>51</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Black</vt:lpstr>
      <vt:lpstr>Calibri</vt:lpstr>
      <vt:lpstr>Calibri Light</vt:lpstr>
      <vt:lpstr>Times New Roman</vt:lpstr>
      <vt:lpstr>Wingdings</vt:lpstr>
      <vt:lpstr>Office Theme</vt:lpstr>
      <vt:lpstr> STUDENT FINANCIAL HABIT ANALYSIS </vt:lpstr>
      <vt:lpstr>TABLE OF CONTENT</vt:lpstr>
      <vt:lpstr>PROBLEM STATEMENT</vt:lpstr>
      <vt:lpstr>OBJECTIVES</vt:lpstr>
      <vt:lpstr>INSIGHTS AND FINDINGS</vt:lpstr>
      <vt:lpstr>2.To determine the major with the highest total expenses (sum of all expenses except tuition). </vt:lpstr>
      <vt:lpstr>3. To Determine the expenses incurred by each Age group. </vt:lpstr>
      <vt:lpstr>4. To estimate the income of student in various levels. </vt:lpstr>
      <vt:lpstr>5. To investigate the financial strain on the students for effective planning.</vt:lpstr>
      <vt:lpstr>6. To uncover the most common payment method. </vt:lpstr>
      <vt:lpstr>7. To uncover the age group of students in the various levels in schools. </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SPENDING HABIT ANALYSIS</dc:title>
  <dc:creator>user</dc:creator>
  <cp:lastModifiedBy>user</cp:lastModifiedBy>
  <cp:revision>12</cp:revision>
  <dcterms:created xsi:type="dcterms:W3CDTF">2025-03-01T13:04:53Z</dcterms:created>
  <dcterms:modified xsi:type="dcterms:W3CDTF">2025-03-04T20:55:19Z</dcterms:modified>
</cp:coreProperties>
</file>